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74" r:id="rId11"/>
    <p:sldId id="275" r:id="rId12"/>
    <p:sldId id="276" r:id="rId13"/>
    <p:sldId id="271" r:id="rId14"/>
    <p:sldId id="263" r:id="rId15"/>
    <p:sldId id="264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818120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73152" cy="6858000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6858000" cy="347472"/>
          </a:xfrm>
          <a:prstGeom prst="rect">
            <a:avLst/>
          </a:prstGeom>
          <a:noFill/>
        </p:spPr>
        <p:txBody>
          <a:bodyPr wrap="square" lIns="18288" tIns="27432" rIns="18288" bIns="27432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C8CE"/>
                </a:solidFill>
                <a:latin typeface="Calibri"/>
              </a:rPr>
              <a:t>MCA RESEARCH PROJECT   ·  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6903720" cy="658368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RELAY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40280"/>
            <a:ext cx="6903720" cy="1417320"/>
          </a:xfrm>
          <a:prstGeom prst="rect">
            <a:avLst/>
          </a:prstGeom>
          <a:noFill/>
        </p:spPr>
        <p:txBody>
          <a:bodyPr wrap="square" lIns="0" tIns="27432" rIns="0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6EEF5"/>
                </a:solidFill>
                <a:latin typeface="Calibri"/>
              </a:rPr>
              <a:t>A Multi-Tenant Retrieval-Augmented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6EEF5"/>
                </a:solidFill>
                <a:latin typeface="Calibri"/>
              </a:rPr>
              <a:t>Generation Platform for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E6EEF5"/>
                </a:solidFill>
                <a:latin typeface="Calibri"/>
              </a:rPr>
              <a:t>Document-Grounded Chatbots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840480"/>
            <a:ext cx="137160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4069080"/>
            <a:ext cx="6766560" cy="292608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EC8CE"/>
                </a:solidFill>
                <a:latin typeface="Calibri"/>
              </a:rPr>
              <a:t>TEAM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480560"/>
            <a:ext cx="3200400" cy="384048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Aaditi Choramle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4480560"/>
            <a:ext cx="3200400" cy="384048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Chitrang Choudhari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19472"/>
            <a:ext cx="3200400" cy="384048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Sahil Dhanavade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919472"/>
            <a:ext cx="3200400" cy="384048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Pratik Kamble</a:t>
            </a:r>
          </a:p>
        </p:txBody>
      </p:sp>
      <p:pic>
        <p:nvPicPr>
          <p:cNvPr id="13" name="Picture 12" descr="college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1184148"/>
            <a:ext cx="1965960" cy="1965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3383280"/>
            <a:ext cx="3794760" cy="1371600"/>
          </a:xfrm>
          <a:prstGeom prst="rect">
            <a:avLst/>
          </a:prstGeom>
          <a:noFill/>
        </p:spPr>
        <p:txBody>
          <a:bodyPr wrap="square" lIns="36576" tIns="27432" rIns="36576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340"/>
                </a:solidFill>
                <a:latin typeface="Calibri"/>
              </a:rPr>
              <a:t>P.E.S. Modern College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340"/>
                </a:solidFill>
                <a:latin typeface="Calibri"/>
              </a:rPr>
              <a:t>of Engineering, Pune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600" b="1">
              <a:solidFill>
                <a:srgbClr val="0F2340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A4F56"/>
                </a:solidFill>
                <a:latin typeface="Calibri"/>
              </a:rPr>
              <a:t>Department of MCA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5074920"/>
            <a:ext cx="3794760" cy="1005840"/>
          </a:xfrm>
          <a:prstGeom prst="rect">
            <a:avLst/>
          </a:prstGeom>
          <a:noFill/>
        </p:spPr>
        <p:txBody>
          <a:bodyPr wrap="square" lIns="36576" tIns="27432" rIns="36576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6C7C"/>
                </a:solidFill>
                <a:latin typeface="Calibri"/>
              </a:rPr>
              <a:t>Guide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340"/>
                </a:solidFill>
                <a:latin typeface="Calibri"/>
              </a:rPr>
              <a:t>Dr. Swati D. Ghule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02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04672"/>
            <a:ext cx="11457432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914400"/>
            <a:ext cx="11109960" cy="26974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500" b="0">
                <a:solidFill>
                  <a:srgbClr val="2A3A4A"/>
                </a:solidFill>
                <a:latin typeface="Calibri"/>
              </a:rPr>
              <a:t>▸  Large language models answer fluently, but can state facts that the source text does not support.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500" b="0">
                <a:solidFill>
                  <a:srgbClr val="2A3A4A"/>
                </a:solidFill>
                <a:latin typeface="Calibri"/>
              </a:rPr>
              <a:t>▸  This failure is hallucination: plausible text with no grounding in the organisation’s documents.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500" b="0">
                <a:solidFill>
                  <a:srgbClr val="2A3A4A"/>
                </a:solidFill>
                <a:latin typeface="Calibri"/>
              </a:rPr>
              <a:t>▸  Private PDFs, policies, and product notes are not reliably available inside the model.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500" b="0">
                <a:solidFill>
                  <a:srgbClr val="2A3A4A"/>
                </a:solidFill>
                <a:latin typeface="Calibri"/>
              </a:rPr>
              <a:t>▸  Keyword search misses paraphrases. Fine-tuning is costly, slow to update, and does not show the source.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500" b="0">
                <a:solidFill>
                  <a:srgbClr val="2A3A4A"/>
                </a:solidFill>
                <a:latin typeface="Calibri"/>
              </a:rPr>
              <a:t>▸  Retrieval-Augmented Generation (Lewis et al.) pairs an LLM with a document index.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500"/>
              </a:spcAft>
            </a:pPr>
            <a:r>
              <a:rPr sz="1500" b="0">
                <a:solidFill>
                  <a:srgbClr val="2A3A4A"/>
                </a:solidFill>
                <a:latin typeface="Calibri"/>
              </a:rPr>
              <a:t>▸  At question time the system retrieves relevant chunks and asks the LLM to answer only from that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794760"/>
            <a:ext cx="3840480" cy="256032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6C7C"/>
                </a:solidFill>
                <a:latin typeface="Calibri"/>
              </a:rPr>
              <a:t>RAG evolution  ·  Gao et 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078224"/>
            <a:ext cx="2161032" cy="475488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Naive RAG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567940" y="4230380"/>
            <a:ext cx="164592" cy="171175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755392" y="4078224"/>
            <a:ext cx="2161032" cy="475488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Advanced RAG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939284" y="4230380"/>
            <a:ext cx="164592" cy="171175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26736" y="4078224"/>
            <a:ext cx="2161032" cy="475488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Modular RAG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4078224"/>
            <a:ext cx="4370832" cy="475488"/>
          </a:xfrm>
          <a:prstGeom prst="roundRect">
            <a:avLst>
              <a:gd name="adj" fmla="val 15000"/>
            </a:avLst>
          </a:prstGeom>
          <a:solidFill>
            <a:srgbClr val="E6F3F4"/>
          </a:solidFill>
          <a:ln w="15875">
            <a:solidFill>
              <a:srgbClr val="0E6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4078224"/>
            <a:ext cx="4370832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4F56"/>
                </a:solidFill>
                <a:latin typeface="Calibri"/>
              </a:rPr>
              <a:t>Relay uses a Naive / Advanced hybrid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681728"/>
            <a:ext cx="2926080" cy="237744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C6C7C"/>
                </a:solidFill>
                <a:latin typeface="Calibri"/>
              </a:rPr>
              <a:t>Why retrieval is added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937760"/>
            <a:ext cx="2117750" cy="65836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24658" y="5148437"/>
            <a:ext cx="164592" cy="237012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712110" y="4937760"/>
            <a:ext cx="2117750" cy="65836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Hallucination 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no private corpus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52720" y="5148437"/>
            <a:ext cx="164592" cy="237012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040172" y="4937760"/>
            <a:ext cx="2117750" cy="65836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80783" y="5148437"/>
            <a:ext cx="164592" cy="237012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368235" y="4937760"/>
            <a:ext cx="2117750" cy="65836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Document index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508845" y="5148437"/>
            <a:ext cx="164592" cy="237012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696297" y="4937760"/>
            <a:ext cx="2117750" cy="65836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Grounded, cited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742432"/>
            <a:ext cx="11457432" cy="713232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742432"/>
            <a:ext cx="11201400" cy="713232"/>
          </a:xfrm>
          <a:prstGeom prst="rect">
            <a:avLst/>
          </a:prstGeom>
          <a:noFill/>
        </p:spPr>
        <p:txBody>
          <a:bodyPr wrap="square" tIns="27432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EC8CE"/>
                </a:solidFill>
                <a:latin typeface="Calibri"/>
              </a:rPr>
              <a:t>Research focus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Build a multi-tenant platform that answers from each organisation’s own documents, with 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Problem Statement &amp; Target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03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04672"/>
            <a:ext cx="69037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804672"/>
            <a:ext cx="73152" cy="4526280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896112"/>
            <a:ext cx="6492240" cy="329184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340"/>
                </a:solidFill>
                <a:latin typeface="Calibri"/>
              </a:rPr>
              <a:t>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280160"/>
            <a:ext cx="6492240" cy="384048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7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Organisations need website and internal assistants that answer only from their own documents.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7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Answers should show the source, not only a fluent sentence.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7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Several organisations must share one hosted platform without seeing each other’s files.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7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Commercial builders are closed, costly, and hide how retrieval and isolation work.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7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Open tutorials are usually single-tenant and stop before login, tenancy, and a public embed API.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7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A shared vector index leaks data if the tenant filter is ever omitted.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24927" y="804672"/>
            <a:ext cx="438912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71231" y="896112"/>
            <a:ext cx="4114800" cy="329184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2340"/>
                </a:solidFill>
                <a:latin typeface="Calibri"/>
              </a:rPr>
              <a:t>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353312"/>
            <a:ext cx="4023360" cy="1170432"/>
          </a:xfrm>
          <a:prstGeom prst="roundRect">
            <a:avLst>
              <a:gd name="adj" fmla="val 1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754112" y="1517904"/>
            <a:ext cx="256032" cy="256032"/>
          </a:xfrm>
          <a:prstGeom prst="ellipse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9872" y="1444752"/>
            <a:ext cx="33832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Owner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4112" y="1773936"/>
            <a:ext cx="3703320" cy="658368"/>
          </a:xfrm>
          <a:prstGeom prst="rect">
            <a:avLst/>
          </a:prstGeom>
          <a:noFill/>
        </p:spPr>
        <p:txBody>
          <a:bodyPr wrap="square" lIns="36576" tIns="27432" rIns="36576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Creates chatbots, uploads documents, tests answers, publishes the widget.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07808" y="2615184"/>
            <a:ext cx="4023360" cy="1170432"/>
          </a:xfrm>
          <a:prstGeom prst="roundRect">
            <a:avLst>
              <a:gd name="adj" fmla="val 1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754112" y="2779776"/>
            <a:ext cx="256032" cy="256032"/>
          </a:xfrm>
          <a:prstGeom prst="ellipse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19872" y="2706624"/>
            <a:ext cx="33832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Website visitor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3035808"/>
            <a:ext cx="3703320" cy="658368"/>
          </a:xfrm>
          <a:prstGeom prst="rect">
            <a:avLst/>
          </a:prstGeom>
          <a:noFill/>
        </p:spPr>
        <p:txBody>
          <a:bodyPr wrap="square" lIns="36576" tIns="27432" rIns="36576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Asks questions from a third-party site through the embeddable widget.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07808" y="3877056"/>
            <a:ext cx="4023360" cy="1170432"/>
          </a:xfrm>
          <a:prstGeom prst="roundRect">
            <a:avLst>
              <a:gd name="adj" fmla="val 1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54112" y="4041648"/>
            <a:ext cx="256032" cy="256032"/>
          </a:xfrm>
          <a:prstGeom prst="ellipse">
            <a:avLst/>
          </a:prstGeom>
          <a:solidFill>
            <a:srgbClr val="1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27432" rIns="73152" bIns="27432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19872" y="3968496"/>
            <a:ext cx="33832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RAG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4297680"/>
            <a:ext cx="3703320" cy="658368"/>
          </a:xfrm>
          <a:prstGeom prst="rect">
            <a:avLst/>
          </a:prstGeom>
          <a:noFill/>
        </p:spPr>
        <p:txBody>
          <a:bodyPr wrap="square" lIns="36576" tIns="27432" rIns="36576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Retrieves only that chatbot’s chunks and returns a cited answer.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468112"/>
            <a:ext cx="11457432" cy="960120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11109960" cy="822960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CE"/>
                </a:solidFill>
                <a:latin typeface="Calibri"/>
              </a:rPr>
              <a:t>Research 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Isolation on a shared index, one shared RAG pipeline, and hosted embeddings decide whether answers stay grounded and tenant-safe.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04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804672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1060704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896112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Study the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1188720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Review RAG, dense retrieval, and multi-tenant isolation, and state the gap this work addresses.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804672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73368" y="1060704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896112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One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8312" y="1188720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Design a single Next.js application for authentication, ingestion, search, answering, and the widget API.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1920240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5488" y="2176272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2011680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Owner security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2304288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Use Google OAuth and JWT sessions. Authorise every dashboard call by matching the chatbot owner.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920240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373368" y="2176272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011680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Document ingestion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304288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Accept PDF, DOCX, and TXT. Extract text, chunk with overlap, embed, and store chatbot_id.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035808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5488" y="3291839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3127248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Query-time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3419856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Embed the question, run filtered top-k search, and generate with OpenRouter and model fallbacks.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035808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73368" y="3291839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68312" y="3127248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Public chat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68312" y="3419856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Expose a CORS endpoint authenticated by a pk_live_ key and an origin allow-list.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4151376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75488" y="4407408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4242816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Embeddable widget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" y="4535424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Publish relay-chat-widget so a customer site can load appearance and ask questions.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4151376"/>
            <a:ext cx="574243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373368" y="4407408"/>
            <a:ext cx="566928" cy="475488"/>
          </a:xfrm>
          <a:prstGeom prst="roundRect">
            <a:avLst>
              <a:gd name="adj" fmla="val 20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68312" y="4242816"/>
            <a:ext cx="475488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Test and 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68312" y="4535424"/>
            <a:ext cx="4754880" cy="566928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Verify chunking, models, APIs, and isolation, then deploy the system for demonstration.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321808"/>
            <a:ext cx="11457432" cy="1097280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394960"/>
            <a:ext cx="11109960" cy="960120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CE"/>
                </a:solidFill>
                <a:latin typeface="Calibri"/>
              </a:rPr>
              <a:t>Overall objective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Improve the reliability of knowledge-grounded question answering on a shared, isolation-aware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Working of the Proposed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05  /  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749808"/>
            <a:ext cx="7315200" cy="256032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340"/>
                </a:solidFill>
                <a:latin typeface="Calibri"/>
              </a:rPr>
              <a:t>Offline   ·   Knowledge preparation   ·   writes the index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60704"/>
            <a:ext cx="2123236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PDF, DOCX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or TXT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11856" y="1288938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699308" y="1060704"/>
            <a:ext cx="2123236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Extract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text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45405" y="1288938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32857" y="1060704"/>
            <a:ext cx="2123236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Chunk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800 / 150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78954" y="1288938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66406" y="1060704"/>
            <a:ext cx="2123236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passage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512503" y="1288938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99955" y="1060704"/>
            <a:ext cx="2123236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Upsert +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chatbot_id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0561320" y="1847088"/>
            <a:ext cx="201168" cy="256032"/>
          </a:xfrm>
          <a:prstGeom prst="downArrow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1847088"/>
            <a:ext cx="1965960" cy="256032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6C7C"/>
                </a:solidFill>
                <a:latin typeface="Calibri"/>
              </a:rPr>
              <a:t>writes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176272"/>
            <a:ext cx="11457432" cy="713232"/>
          </a:xfrm>
          <a:prstGeom prst="roundRect">
            <a:avLst>
              <a:gd name="adj" fmla="val 12000"/>
            </a:avLst>
          </a:prstGeom>
          <a:solidFill>
            <a:srgbClr val="E6F3F4"/>
          </a:solidFill>
          <a:ln w="19050">
            <a:solidFill>
              <a:srgbClr val="0E6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176272"/>
            <a:ext cx="11201400" cy="7132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A4F56"/>
                </a:solidFill>
                <a:latin typeface="Calibri"/>
              </a:rPr>
              <a:t>Shared knowledge base   ·   Pinecone index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Every vector and every query carries chatbot_id. Cosine similarity. Model: multilingual-e5-large.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903720" y="2962656"/>
            <a:ext cx="201168" cy="256032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2944368"/>
            <a:ext cx="2194560" cy="274320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C6C7C"/>
                </a:solidFill>
                <a:latin typeface="Calibri"/>
              </a:rPr>
              <a:t>read at retrieval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273552"/>
            <a:ext cx="7315200" cy="256032"/>
          </a:xfrm>
          <a:prstGeom prst="rect">
            <a:avLst/>
          </a:prstGeom>
          <a:noFill/>
        </p:spPr>
        <p:txBody>
          <a:bodyPr wrap="square" lIns="0" tIns="27432" rIns="0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A4F56"/>
                </a:solidFill>
                <a:latin typeface="Calibri"/>
              </a:rPr>
              <a:t>Online   ·   Query answering   ·   reads the index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584448"/>
            <a:ext cx="1734311" cy="74980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2122931" y="3824386"/>
            <a:ext cx="164592" cy="269930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310383" y="3584448"/>
            <a:ext cx="1734311" cy="74980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Authenticate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session or key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067555" y="3824386"/>
            <a:ext cx="164592" cy="269930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255007" y="3584448"/>
            <a:ext cx="1734311" cy="74980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Embed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012179" y="3824386"/>
            <a:ext cx="164592" cy="269930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199631" y="3584448"/>
            <a:ext cx="1734311" cy="74980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Top-k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+ filter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956804" y="3824386"/>
            <a:ext cx="164592" cy="269930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44256" y="3584448"/>
            <a:ext cx="1734311" cy="74980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+ LLM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901428" y="3824386"/>
            <a:ext cx="164592" cy="269930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88880" y="3584448"/>
            <a:ext cx="1734311" cy="74980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Cited answer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or refusal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4572000"/>
            <a:ext cx="28163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365760" y="4572000"/>
            <a:ext cx="73152" cy="7772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4626864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4937760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C7C"/>
                </a:solidFill>
                <a:latin typeface="Calibri"/>
              </a:rPr>
              <a:t>Owner tests questions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10128" y="4572000"/>
            <a:ext cx="28163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310128" y="4572000"/>
            <a:ext cx="73152" cy="777240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0" y="4626864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Website widget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4937760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C7C"/>
                </a:solidFill>
                <a:latin typeface="Calibri"/>
              </a:rPr>
              <a:t>Visitor on another site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54496" y="4572000"/>
            <a:ext cx="28163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254496" y="4572000"/>
            <a:ext cx="73152" cy="777240"/>
          </a:xfrm>
          <a:prstGeom prst="rect">
            <a:avLst/>
          </a:prstGeom>
          <a:solidFill>
            <a:srgbClr val="1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4626864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One function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4937760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C7C"/>
                </a:solidFill>
                <a:latin typeface="Calibri"/>
              </a:rPr>
              <a:t>answerChatbotQuery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98864" y="4572000"/>
            <a:ext cx="2816352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9198864" y="4572000"/>
            <a:ext cx="73152" cy="777240"/>
          </a:xfrm>
          <a:prstGeom prst="rect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63456" y="4626864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If no match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63456" y="4937760"/>
            <a:ext cx="2560320" cy="329184"/>
          </a:xfrm>
          <a:prstGeom prst="rect">
            <a:avLst/>
          </a:prstGeom>
          <a:noFill/>
        </p:spPr>
        <p:txBody>
          <a:bodyPr wrap="square" lIns="18288" tIns="27432" rIns="18288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C7C"/>
                </a:solidFill>
                <a:latin typeface="Calibri"/>
              </a:rPr>
              <a:t>Refuse, do not call LLM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5504688"/>
            <a:ext cx="11457432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5559552"/>
            <a:ext cx="11109960" cy="80467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2340"/>
                </a:solidFill>
                <a:latin typeface="Calibri"/>
              </a:rPr>
              <a:t>Ingestion never calls the LLM. A query never writes the index.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A chat message cannot add text to another tenant’s knowledge base. The same answer function serves the dashboard and the widget.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Research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06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68096"/>
            <a:ext cx="11457432" cy="658368"/>
          </a:xfrm>
          <a:prstGeom prst="roundRect">
            <a:avLst>
              <a:gd name="adj" fmla="val 1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768096"/>
            <a:ext cx="11201400" cy="658368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CE"/>
                </a:solidFill>
                <a:latin typeface="Calibri"/>
              </a:rPr>
              <a:t>Problem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Shared assistants must answer only from each organisation’s documents. Demos and closed products do not show how.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36576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554480"/>
            <a:ext cx="3657600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1645920"/>
            <a:ext cx="3438144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Existing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975104"/>
            <a:ext cx="3456432" cy="32461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RAG conditions a generator on retrieved passages (Lewis et al.).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Gao et al. separate Naive, Advanced, and Modular RAG.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Dense retrieval maps questions and passages into one vector space.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FAISS-style search and hosted vector indexes make nearest-neighbour lookup practical.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Multi-tenant SaaS literature studies isolation of shared data.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Commercial document chatbots show demand, but their internals are closed.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554480"/>
            <a:ext cx="36576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554480"/>
            <a:ext cx="3657600" cy="73152"/>
          </a:xfrm>
          <a:prstGeom prst="rect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0248" y="1645920"/>
            <a:ext cx="3438144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Identified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1975104"/>
            <a:ext cx="3456432" cy="32461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Teaching demos often query one index with no tenant key.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Open prototypes stop at localhost: no login, public key, or widget.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A Next.js UI plus a Python embedder doubles deployment and failure points.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Separate dashboard and widget pipelines drift apart.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One free LLM fails when it is rate-limited or leaks reasoning.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A browser widget key is not a server secret, but is often treated as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1554480"/>
            <a:ext cx="36576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79" y="1554480"/>
            <a:ext cx="3657600" cy="73152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65007" y="1645920"/>
            <a:ext cx="3438144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This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19" y="1975104"/>
            <a:ext cx="3456432" cy="32461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Logical isolation on a shared Pinecone index.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Mandatory metadata filter: chatbot_id.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One Next.js service and hosted embeddings. No Python sidecar.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One answer function, two facades: JWT session and pk_live_ key.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Model fallbacks, reasoning-leak detection, and a raw-chunk fallback.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300"/>
              </a:spcAft>
            </a:pPr>
            <a:r>
              <a:rPr sz="1200" b="0">
                <a:solidFill>
                  <a:srgbClr val="2A3A4A"/>
                </a:solidFill>
                <a:latin typeface="Calibri"/>
              </a:rPr>
              <a:t>▸  Public key permits chat only, and is bound to allowed origins.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468112"/>
            <a:ext cx="11457432" cy="960120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11109960" cy="841248"/>
          </a:xfrm>
          <a:prstGeom prst="rect">
            <a:avLst/>
          </a:prstGeom>
          <a:noFill/>
        </p:spPr>
        <p:txBody>
          <a:bodyPr wrap="square" lIns="73152" tIns="27432" rIns="73152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CE"/>
                </a:solidFill>
                <a:latin typeface="Calibri"/>
              </a:rPr>
              <a:t>Contribution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 inspectable system between a research RAG pipeline and a small multi-tenant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07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768096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5488" y="859536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804672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Presentation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896112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08960" y="804672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Landing  ·  Google sign-in  ·  Owner dashboard  ·  Chat workspace  ·  Shadow DOM widget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389888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5488" y="1481328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426464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517904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08960" y="1426464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Session routes  /api/chatbots/*     ·     Public routes  /api/public/*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011680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75488" y="2103120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048256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Domain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2139696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08960" y="2048256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answerChatbotQuery  ·  Chunker  ·  Parser  ·  API-key generator  ·  CORS checks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633472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75488" y="2724912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670048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Retrieval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71800" y="2761488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08960" y="2670048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Query embedding  ·  Cosine similarity  ·  Top-k  ·  Mandatory chatbot_id filter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255264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75488" y="3346704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291840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Knowledge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3383280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108960" y="3291840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MongoDB: users, chatbots, keys, widget config     ·     Pinecone: vectors, text, metadata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877056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75488" y="3968496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3913632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Generation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4005072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108960" y="3913632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OpenRouter  ·  Llama 3.3 70B Instruct  ·  Free-tier fallbacks  ·  Strict grounded prompt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4498848"/>
            <a:ext cx="1145743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5488" y="4590288"/>
            <a:ext cx="420624" cy="384048"/>
          </a:xfrm>
          <a:prstGeom prst="roundRect">
            <a:avLst>
              <a:gd name="adj" fmla="val 20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4535424"/>
            <a:ext cx="1965960" cy="493776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Output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71800" y="4626864"/>
            <a:ext cx="13716" cy="310896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08960" y="4535424"/>
            <a:ext cx="8549640" cy="493776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A3A4A"/>
                </a:solidFill>
                <a:latin typeface="Calibri"/>
              </a:rPr>
              <a:t>Answer  ·  Document name  ·  Chunk score     ·     Refusal if nothing relevant is retrieved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5157216"/>
            <a:ext cx="11457432" cy="1280160"/>
          </a:xfrm>
          <a:prstGeom prst="roundRect">
            <a:avLst>
              <a:gd name="adj" fmla="val 6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212080"/>
            <a:ext cx="11155680" cy="274320"/>
          </a:xfrm>
          <a:prstGeom prst="rect">
            <a:avLst/>
          </a:prstGeom>
          <a:noFill/>
        </p:spPr>
        <p:txBody>
          <a:bodyPr wrap="square" lIns="36576" tIns="27432" rIns="36576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2340"/>
                </a:solidFill>
                <a:latin typeface="Calibri"/>
              </a:rPr>
              <a:t>Evaluation layer   —   functional and qualitative, not a labelled IR benchmark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" y="5559552"/>
            <a:ext cx="2053742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Unit tests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(Jest)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2606954" y="5787786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2794406" y="5559552"/>
            <a:ext cx="2053742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API and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authorisation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871008" y="5787786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058460" y="5559552"/>
            <a:ext cx="2053742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Isolation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checks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135063" y="5787786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322515" y="5559552"/>
            <a:ext cx="2053742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Qualitative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RAG scenarios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9399117" y="5787786"/>
            <a:ext cx="164592" cy="256763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586569" y="5559552"/>
            <a:ext cx="2053742" cy="71323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UML Diagram —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" y="713232"/>
            <a:ext cx="7818120" cy="574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749808"/>
            <a:ext cx="7635240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Owner and website visitor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26983"/>
            <a:ext cx="7635240" cy="4970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713232"/>
            <a:ext cx="3611880" cy="5742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0" y="841248"/>
            <a:ext cx="3337560" cy="329184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2340"/>
                </a:solidFill>
                <a:latin typeface="Calibri"/>
              </a:rPr>
              <a:t>How to read 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3291840" cy="4846320"/>
          </a:xfrm>
          <a:prstGeom prst="rect">
            <a:avLst/>
          </a:prstGeom>
          <a:noFill/>
        </p:spPr>
        <p:txBody>
          <a:bodyPr wrap="square" lIns="36576" tIns="18288" rIns="36576" bIns="18288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owner signs in, manages chatbots, uploads files, and tests questions.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visitor only opens the widget and asks a question.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Upload and delete are not visitor actions.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Both paths include Authenticate: a session for the owner, an API key for the visitor.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08  / 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UML Diagram — Class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" y="713232"/>
            <a:ext cx="11594592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749808"/>
            <a:ext cx="11411712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Core domain classes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326" y="1060704"/>
            <a:ext cx="8095154" cy="46360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92608" y="5870448"/>
            <a:ext cx="11594592" cy="621792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5870448"/>
            <a:ext cx="11338560" cy="62179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838"/>
                </a:solidFill>
                <a:latin typeface="Calibri"/>
              </a:rPr>
              <a:t>One user owns many chatbots. Answering runs through answerChatbotQuery, the document pipeline, Pinecone, public auth, and the LLM.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09  / 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UML Sequence — Document Upload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" y="694944"/>
            <a:ext cx="11667744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731520"/>
            <a:ext cx="1148486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Document Upload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86" y="1042416"/>
            <a:ext cx="10422835" cy="4773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032" y="5989320"/>
            <a:ext cx="11667744" cy="50292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838"/>
                </a:solidFill>
                <a:latin typeface="Calibri"/>
              </a:rPr>
              <a:t>The owner uploads a file. The API checks ownership, chunks the text, and upserts vectors.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10  / 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UML Sequence — Dashboard Question and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" y="694944"/>
            <a:ext cx="11667744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731520"/>
            <a:ext cx="1148486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Dashboard Question and Answer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883" y="1042416"/>
            <a:ext cx="9452040" cy="4773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032" y="5989320"/>
            <a:ext cx="11667744" cy="50292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838"/>
                </a:solidFill>
                <a:latin typeface="Calibri"/>
              </a:rPr>
              <a:t>A signed-in owner asks a question. Retrieval is filtered, then the LLM answers from those chunks.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11  / 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UML Sequence — Public Widget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6032" y="694944"/>
            <a:ext cx="11667744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731520"/>
            <a:ext cx="11484864" cy="2743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F2340"/>
                </a:solidFill>
                <a:latin typeface="Calibri"/>
              </a:rPr>
              <a:t>Public Widget Chat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77" y="1042416"/>
            <a:ext cx="9492452" cy="477316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56032" y="5989320"/>
            <a:ext cx="11667744" cy="502920"/>
          </a:xfrm>
          <a:prstGeom prst="roundRect">
            <a:avLst>
              <a:gd name="adj" fmla="val 8000"/>
            </a:avLst>
          </a:prstGeom>
          <a:solidFill>
            <a:srgbClr val="E6F3F4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5989320"/>
            <a:ext cx="11430000" cy="50292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1C2838"/>
                </a:solidFill>
                <a:latin typeface="Calibri"/>
              </a:rPr>
              <a:t>The visitor never receives the owner session. The widget uses the public key and the same answer function.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12  / 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UML Diagrams — Activity, Data and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92608" y="694944"/>
            <a:ext cx="4160520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731520"/>
            <a:ext cx="4014215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340"/>
                </a:solidFill>
                <a:latin typeface="Calibri"/>
              </a:rPr>
              <a:t>Activity  ·  RAG answering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45196"/>
            <a:ext cx="4014215" cy="36979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0" y="694944"/>
            <a:ext cx="7296912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731520"/>
            <a:ext cx="7150608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340"/>
                </a:solidFill>
                <a:latin typeface="Calibri"/>
              </a:rPr>
              <a:t>ERD  ·  user owns chatbots; vectors are in Pinecone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288343"/>
            <a:ext cx="7150608" cy="18398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0" y="3584448"/>
            <a:ext cx="7296912" cy="28712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3621024"/>
            <a:ext cx="7150608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340"/>
                </a:solidFill>
                <a:latin typeface="Calibri"/>
              </a:rPr>
              <a:t>Data flow  ·  ingestion writes, query only reads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097" y="3895344"/>
            <a:ext cx="5134716" cy="248716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54864" tIns="18288" rIns="54864" bIns="18288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13  / 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Working of Retrieval-Augmented Generation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14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  Query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Dashboard or widget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602486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789938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  Embed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inputType: query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59836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  Retrieve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Cosine + filter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542282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29734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  Top-k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5, or 10 public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12180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  Context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DOCUMENT i :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82078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669530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  LLM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Context only, 0.1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51976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39428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  Guard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Empty or failure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421874" y="1055583"/>
            <a:ext cx="164592" cy="302849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609326" y="786384"/>
            <a:ext cx="1259586" cy="84124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  Answer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Cite or refuse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1682496"/>
            <a:ext cx="11430000" cy="292608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C7C"/>
                </a:solidFill>
                <a:latin typeface="Calibri"/>
              </a:rPr>
              <a:t>Left to right. Dense retrieval on this chatbot’s chunks. BM25 is discussed only as a weak baseline for paraphrases.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084831"/>
            <a:ext cx="5623560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2084831"/>
            <a:ext cx="5623560" cy="384048"/>
          </a:xfrm>
          <a:prstGeom prst="rect">
            <a:avLst/>
          </a:prstGeom>
          <a:solidFill>
            <a:srgbClr val="1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2084831"/>
            <a:ext cx="5440680" cy="38404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Traditional LLM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633472"/>
            <a:ext cx="1612392" cy="475488"/>
          </a:xfrm>
          <a:prstGeom prst="roundRect">
            <a:avLst>
              <a:gd name="adj" fmla="val 15000"/>
            </a:avLst>
          </a:prstGeom>
          <a:solidFill>
            <a:srgbClr val="3D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183892" y="2785628"/>
            <a:ext cx="164592" cy="171175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371344" y="2633472"/>
            <a:ext cx="1612392" cy="475488"/>
          </a:xfrm>
          <a:prstGeom prst="roundRect">
            <a:avLst>
              <a:gd name="adj" fmla="val 15000"/>
            </a:avLst>
          </a:prstGeom>
          <a:solidFill>
            <a:srgbClr val="3D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4006596" y="2785628"/>
            <a:ext cx="164592" cy="171175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194048" y="2633472"/>
            <a:ext cx="1612392" cy="475488"/>
          </a:xfrm>
          <a:prstGeom prst="roundRect">
            <a:avLst>
              <a:gd name="adj" fmla="val 15000"/>
            </a:avLst>
          </a:prstGeom>
          <a:solidFill>
            <a:srgbClr val="3D4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246120"/>
            <a:ext cx="5257800" cy="77724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May answer from parametric memory alone. The source of a private fact is not shown.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2084831"/>
            <a:ext cx="5650992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6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72200" y="2084831"/>
            <a:ext cx="5650992" cy="384048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2084831"/>
            <a:ext cx="5468112" cy="38404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RAG in Relay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2633472"/>
            <a:ext cx="1191006" cy="47548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523226" y="2785628"/>
            <a:ext cx="164592" cy="171175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10678" y="2633472"/>
            <a:ext cx="1191006" cy="47548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924544" y="2785628"/>
            <a:ext cx="164592" cy="171175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111996" y="2633472"/>
            <a:ext cx="1191006" cy="47548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LLM + context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0325862" y="2785628"/>
            <a:ext cx="164592" cy="171175"/>
          </a:xfrm>
          <a:prstGeom prst="rightArrow">
            <a:avLst/>
          </a:prstGeom>
          <a:solidFill>
            <a:srgbClr val="0A4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513314" y="2633472"/>
            <a:ext cx="1191006" cy="475488"/>
          </a:xfrm>
          <a:prstGeom prst="roundRect">
            <a:avLst>
              <a:gd name="adj" fmla="val 15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Cited answer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3246120"/>
            <a:ext cx="5303520" cy="77724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The prompt forbids facts outside the retrieved chunks. Sources and scores are returned.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892040"/>
            <a:ext cx="11457432" cy="1508760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956048"/>
            <a:ext cx="10972800" cy="137160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CE"/>
                </a:solidFill>
                <a:latin typeface="Calibri"/>
              </a:rPr>
              <a:t>What this changes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The model depends less on its original training data. The knowledge base is updated by uploading a file, not by retraining.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5E4EA"/>
                </a:solidFill>
                <a:latin typeface="Calibri"/>
              </a:rPr>
              <a:t>If no chunk matches, the system says it could not find the answer and does not call the LLM.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64592"/>
            <a:ext cx="11338560" cy="43891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System Workflows, Diagrams &amp; Test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621792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6601968"/>
            <a:ext cx="8686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15  /  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" y="768096"/>
            <a:ext cx="28163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" y="768096"/>
            <a:ext cx="2816352" cy="310896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" y="768096"/>
            <a:ext cx="2816352" cy="310896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    Query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" y="113385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User query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700784" y="1376172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93776" y="1467612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Authenticate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700784" y="1709928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93776" y="1801368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Top-k retrieve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700784" y="2043684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6" y="2135124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Build context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700784" y="2377439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93776" y="2468879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LLM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700784" y="2711196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93776" y="280263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Cited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768096"/>
            <a:ext cx="28163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91840" y="768096"/>
            <a:ext cx="2816352" cy="310896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91840" y="768096"/>
            <a:ext cx="2816352" cy="310896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B    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38144" y="113385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Ask question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4645152" y="1376172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438144" y="1467612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Check access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4645152" y="1709928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438144" y="1801368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Search index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4645152" y="2043684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438144" y="2135124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Match found?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4645152" y="2377439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438144" y="2468879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Generate or refuse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4645152" y="2711196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438144" y="280263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Show sources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36208" y="768096"/>
            <a:ext cx="28163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36208" y="768096"/>
            <a:ext cx="2816352" cy="310896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768096"/>
            <a:ext cx="2816352" cy="310896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    Ingestion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82512" y="113385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Upload file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7589519" y="1376172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382512" y="1467612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Extract text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7589519" y="1709928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382512" y="1801368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Recursive chunk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7589519" y="2043684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382512" y="2135124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Embed passage</a:t>
            </a:r>
          </a:p>
        </p:txBody>
      </p:sp>
      <p:sp>
        <p:nvSpPr>
          <p:cNvPr id="48" name="Down Arrow 47"/>
          <p:cNvSpPr/>
          <p:nvPr/>
        </p:nvSpPr>
        <p:spPr>
          <a:xfrm>
            <a:off x="7589519" y="2377439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6382512" y="2468879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Upsert vectors</a:t>
            </a:r>
          </a:p>
        </p:txBody>
      </p:sp>
      <p:sp>
        <p:nvSpPr>
          <p:cNvPr id="50" name="Down Arrow 49"/>
          <p:cNvSpPr/>
          <p:nvPr/>
        </p:nvSpPr>
        <p:spPr>
          <a:xfrm>
            <a:off x="7589519" y="2711196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382512" y="280263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Return count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0576" y="768096"/>
            <a:ext cx="28163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80576" y="768096"/>
            <a:ext cx="2816352" cy="310896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80576" y="768096"/>
            <a:ext cx="2816352" cy="310896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    Evaluation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326880" y="113385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Set a scenario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10533888" y="1376172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326880" y="1467612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State expected</a:t>
            </a:r>
          </a:p>
        </p:txBody>
      </p:sp>
      <p:sp>
        <p:nvSpPr>
          <p:cNvPr id="58" name="Down Arrow 57"/>
          <p:cNvSpPr/>
          <p:nvPr/>
        </p:nvSpPr>
        <p:spPr>
          <a:xfrm>
            <a:off x="10533888" y="1709928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9326880" y="1801368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Run on the system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10533888" y="2043684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326880" y="2135124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Record observed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10533888" y="2377439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9326880" y="2468879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6F3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No labelled scores</a:t>
            </a:r>
          </a:p>
        </p:txBody>
      </p:sp>
      <p:sp>
        <p:nvSpPr>
          <p:cNvPr id="64" name="Down Arrow 63"/>
          <p:cNvSpPr/>
          <p:nvPr/>
        </p:nvSpPr>
        <p:spPr>
          <a:xfrm>
            <a:off x="10533888" y="2711196"/>
            <a:ext cx="109728" cy="82296"/>
          </a:xfrm>
          <a:prstGeom prst="down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9326880" y="2802636"/>
            <a:ext cx="2523744" cy="237744"/>
          </a:xfrm>
          <a:prstGeom prst="roundRect">
            <a:avLst>
              <a:gd name="adj" fmla="val 30000"/>
            </a:avLst>
          </a:prstGeom>
          <a:solidFill>
            <a:srgbClr val="E7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340"/>
                </a:solidFill>
                <a:latin typeface="Calibri"/>
              </a:rPr>
              <a:t>Review questions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7472" y="3200400"/>
            <a:ext cx="11475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3218688"/>
            <a:ext cx="1828800" cy="256032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340"/>
                </a:solidFill>
                <a:latin typeface="Calibri"/>
              </a:rPr>
              <a:t>E    Answer states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3511296"/>
            <a:ext cx="1166774" cy="43891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Idle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1646834" y="3651747"/>
            <a:ext cx="164592" cy="158008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1834286" y="3511296"/>
            <a:ext cx="1166774" cy="43891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Query</a:t>
            </a:r>
          </a:p>
        </p:txBody>
      </p:sp>
      <p:sp>
        <p:nvSpPr>
          <p:cNvPr id="71" name="Right Arrow 70"/>
          <p:cNvSpPr/>
          <p:nvPr/>
        </p:nvSpPr>
        <p:spPr>
          <a:xfrm>
            <a:off x="3023920" y="3651747"/>
            <a:ext cx="164592" cy="158008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ounded Rectangle 71"/>
          <p:cNvSpPr/>
          <p:nvPr/>
        </p:nvSpPr>
        <p:spPr>
          <a:xfrm>
            <a:off x="3211372" y="3511296"/>
            <a:ext cx="1166774" cy="43891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4401007" y="3651747"/>
            <a:ext cx="164592" cy="158008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4588459" y="3511296"/>
            <a:ext cx="1166774" cy="43891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Generate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5778093" y="3651747"/>
            <a:ext cx="164592" cy="158008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5965545" y="3511296"/>
            <a:ext cx="1166774" cy="438912"/>
          </a:xfrm>
          <a:prstGeom prst="roundRect">
            <a:avLst>
              <a:gd name="adj" fmla="val 15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223760" y="3456432"/>
            <a:ext cx="4434840" cy="548640"/>
          </a:xfrm>
          <a:prstGeom prst="rect">
            <a:avLst/>
          </a:prstGeom>
          <a:noFill/>
        </p:spPr>
        <p:txBody>
          <a:bodyPr wrap="square" lIns="18288" tIns="27432" rIns="18288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4F56"/>
                </a:solidFill>
                <a:latin typeface="Calibri"/>
              </a:rPr>
              <a:t>No match  →  Refusal, no LLM call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A4F56"/>
                </a:solidFill>
                <a:latin typeface="Calibri"/>
              </a:rPr>
              <a:t>LLM failure or leaked reasoning  →  Raw excerpt</a:t>
            </a:r>
          </a:p>
        </p:txBody>
      </p:sp>
      <p:graphicFrame>
        <p:nvGraphicFramePr>
          <p:cNvPr id="78" name="Table 77"/>
          <p:cNvGraphicFramePr>
            <a:graphicFrameLocks noGrp="1"/>
          </p:cNvGraphicFramePr>
          <p:nvPr/>
        </p:nvGraphicFramePr>
        <p:xfrm>
          <a:off x="347472" y="4160520"/>
          <a:ext cx="1147572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 case</a:t>
                      </a:r>
                    </a:p>
                  </a:txBody>
                  <a:tcPr marL="70000" marR="70000" marT="40000" marB="400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Input / scenario</a:t>
                      </a:r>
                    </a:p>
                  </a:txBody>
                  <a:tcPr marL="70000" marR="70000" marT="40000" marB="400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Expected result</a:t>
                      </a:r>
                    </a:p>
                  </a:txBody>
                  <a:tcPr marL="70000" marR="70000" marT="40000" marB="40000" anchor="ctr"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0000" marR="70000" marT="40000" marB="40000" anchor="ctr">
                    <a:solidFill>
                      <a:srgbClr val="0F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Short chunk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Text under 800 characters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One chunk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644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0000" marR="70000" marT="40000" marB="40000" anchor="ctr">
                    <a:solidFill>
                      <a:srgbClr val="E6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Long chunk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Paragraphs split by a blank line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Each chunk ≤ 800; metadata kept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644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0000" marR="70000" marT="40000" marB="40000" anchor="ctr">
                    <a:solidFill>
                      <a:srgbClr val="E6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In-corpus question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Wording close to an uploaded chunk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Grounded answer and source name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A4F56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70000" marR="70000" marT="40000" marB="40000" anchor="ctr"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Paraphrase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Same meaning, different words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Dense retrieval still returns the chunk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A4F56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70000" marR="70000" marT="40000" marB="40000" anchor="ctr"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Unknown question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Answer is not in any document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Refusal; no invented policy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A4F56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70000" marR="70000" marT="40000" marB="40000" anchor="ctr"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Cross-tenant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Ask chatbot A about chatbot B’s file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B’s text excluded by chatbot_id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A4F56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70000" marR="70000" marT="40000" marB="40000" anchor="ctr"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LLM failure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Rate limit or leaked reasoning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Quoted excerpt of the top chunks</a:t>
                      </a:r>
                    </a:p>
                  </a:txBody>
                  <a:tcPr marL="70000" marR="7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A4F56"/>
                          </a:solidFill>
                          <a:latin typeface="Calibri"/>
                        </a:rPr>
                        <a:t>Observed</a:t>
                      </a:r>
                    </a:p>
                  </a:txBody>
                  <a:tcPr marL="70000" marR="70000" marT="40000" marB="40000" anchor="ctr">
                    <a:solidFill>
                      <a:srgbClr val="E6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Access control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No session, non-owner, or bad origin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C2838"/>
                          </a:solidFill>
                          <a:latin typeface="Calibri"/>
                        </a:rPr>
                        <a:t>HTTP 401 or 403</a:t>
                      </a:r>
                    </a:p>
                  </a:txBody>
                  <a:tcPr marL="70000" marR="70000" marT="40000" marB="40000" anchor="ctr"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6445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0000" marR="70000" marT="40000" marB="40000" anchor="ctr">
                    <a:solidFill>
                      <a:srgbClr val="E6F4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Product Screenshot — Owner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713232"/>
            <a:ext cx="10104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749808"/>
            <a:ext cx="98298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340"/>
                </a:solidFill>
                <a:latin typeface="Calibri"/>
              </a:rPr>
              <a:t>Four chatbots on one account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55" y="1042415"/>
            <a:ext cx="6595129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51560" y="5010912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10912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After Google sign-in the owner sees a library of independent chatbots.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504688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504688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Each bot shows RAG Enabled. Opening or deleting one does not change the others.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998464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998464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This is the account-level view of multi-tenancy.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16  / 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Product Screenshot — Chat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713232"/>
            <a:ext cx="10104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749808"/>
            <a:ext cx="98298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340"/>
                </a:solidFill>
                <a:latin typeface="Calibri"/>
              </a:rPr>
              <a:t>Grounded answer on chatbot sahil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55" y="1042415"/>
            <a:ext cx="6595129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51560" y="5010912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10912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question was “tell me the skills of sahil”.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504688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504688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answer is a structured list taken from the uploaded document, not a raw vector dump.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998464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998464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same screen accepts PDF, DOCX, and TXT, and opens Embed &amp; API.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17  / 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Product Screenshot — Embed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713232"/>
            <a:ext cx="10104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749808"/>
            <a:ext cx="98298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340"/>
                </a:solidFill>
                <a:latin typeface="Calibri"/>
              </a:rPr>
              <a:t>Public key, origins, and appearance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55" y="1042415"/>
            <a:ext cx="6595129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51560" y="5010912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10912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Each chatbot has a pk_live_ key. Regenerating it invalidates the previous key.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504688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504688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key allows chat only. Allowed origins restrict which sites may call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998464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998464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Colour, position, and welcome text are stored on the server.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18  / 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Product Screenshot — Embed Snippets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713232"/>
            <a:ext cx="10104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749808"/>
            <a:ext cx="982980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F2340"/>
                </a:solidFill>
                <a:latin typeface="Calibri"/>
              </a:rPr>
              <a:t>Script tag and npm package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055" y="1042415"/>
            <a:ext cx="6595129" cy="3703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51560" y="5010912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10912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A customer site can load widget.js or install relay-chat-widget.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5504688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504688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The page sends only the public API key. It does not receive the owner session.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998464"/>
            <a:ext cx="1010412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5998464"/>
            <a:ext cx="9829800" cy="457200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▸  Changing appearance in the dashboard updates the widget without rebuilding the 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19  / 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822960"/>
            <a:ext cx="37033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03320" cy="658368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841248"/>
            <a:ext cx="3703320" cy="237744"/>
          </a:xfrm>
          <a:prstGeom prst="rect">
            <a:avLst/>
          </a:prstGeom>
          <a:noFill/>
        </p:spPr>
        <p:txBody>
          <a:bodyPr wrap="square" lIns="54864" tIns="27432" rIns="54864" bIns="27432" anchor="b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7D6DA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60704"/>
            <a:ext cx="3703320" cy="36576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Near 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27632"/>
            <a:ext cx="3474720" cy="35661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Golden questions per document, with RAGAS and nDCG.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Hybrid retrieval: dense vectors plus BM25 for codes and names.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Cross-encoder reranking of the top 20 down to the top 5.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Delete Pinecone vectors when a file or chatbot is removed.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69080" y="2926080"/>
            <a:ext cx="164592" cy="201168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1960" y="822960"/>
            <a:ext cx="37033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822960"/>
            <a:ext cx="3703320" cy="658368"/>
          </a:xfrm>
          <a:prstGeom prst="rect">
            <a:avLst/>
          </a:prstGeom>
          <a:solidFill>
            <a:srgbClr val="1B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841248"/>
            <a:ext cx="3703320" cy="237744"/>
          </a:xfrm>
          <a:prstGeom prst="rect">
            <a:avLst/>
          </a:prstGeom>
          <a:noFill/>
        </p:spPr>
        <p:txBody>
          <a:bodyPr wrap="square" lIns="54864" tIns="27432" rIns="54864" bIns="27432" anchor="b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7D6D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1060704"/>
            <a:ext cx="3703320" cy="36576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627632"/>
            <a:ext cx="3474720" cy="35661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Conversation memory for follow-up questions.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Analytics: question volume, unanswered rate, top sources.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Rate limits and per-key quotas on the public chat API.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Durable multipart upload to object storage.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955279" y="2926080"/>
            <a:ext cx="164592" cy="201168"/>
          </a:xfrm>
          <a:prstGeom prst="rightArrow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38160" y="822960"/>
            <a:ext cx="3703320" cy="4617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60" y="822960"/>
            <a:ext cx="3703320" cy="65836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841248"/>
            <a:ext cx="3703320" cy="237744"/>
          </a:xfrm>
          <a:prstGeom prst="rect">
            <a:avLst/>
          </a:prstGeom>
          <a:noFill/>
        </p:spPr>
        <p:txBody>
          <a:bodyPr wrap="square" lIns="54864" tIns="27432" rIns="54864" bIns="27432" anchor="b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7D6DA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060704"/>
            <a:ext cx="3703320" cy="36576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627632"/>
            <a:ext cx="3474720" cy="35661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More inputs: HTML, Markdown, CSV, and captioned images.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On-premises embeddings when text cannot leave the institution.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Organisation accounts with more than one owner.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Self-RAG: skip retrieval for chitchat, retrieve for knowledge questions.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5577840"/>
            <a:ext cx="11457432" cy="868680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5577840"/>
            <a:ext cx="11201400" cy="86868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These directions extend the deployed system. They were not implemented in the current study.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20  / 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804672"/>
            <a:ext cx="5742432" cy="5623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804672"/>
            <a:ext cx="5742432" cy="50292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5532120" cy="50292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Research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63040"/>
            <a:ext cx="5394960" cy="46634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spcBef>
                <a:spcPts val="100"/>
              </a:spcBef>
              <a:spcAft>
                <a:spcPts val="1000"/>
              </a:spcAft>
            </a:pPr>
            <a:r>
              <a:rPr sz="1500">
                <a:solidFill>
                  <a:srgbClr val="2A3A4A"/>
                </a:solidFill>
                <a:latin typeface="Calibri"/>
              </a:rPr>
              <a:t>▸  Retrieval quality is not scored on a labelled set. RAGAS, BLEU, and nDCG were not computed.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sz="1500">
                <a:solidFill>
                  <a:srgbClr val="2A3A4A"/>
                </a:solidFill>
                <a:latin typeface="Calibri"/>
              </a:rPr>
              <a:t>▸  The reported evaluation is functional and qualitative. It is not a large information-retrieval benchmark.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sz="1500">
                <a:solidFill>
                  <a:srgbClr val="2A3A4A"/>
                </a:solidFill>
                <a:latin typeface="Calibri"/>
              </a:rPr>
              <a:t>▸  Answer quality still depends on chunk quality. A bad split can make the model under-answer.</a:t>
            </a:r>
          </a:p>
          <a:p>
            <a:pPr>
              <a:spcBef>
                <a:spcPts val="100"/>
              </a:spcBef>
              <a:spcAft>
                <a:spcPts val="1000"/>
              </a:spcAft>
            </a:pPr>
            <a:r>
              <a:rPr sz="1500">
                <a:solidFill>
                  <a:srgbClr val="2A3A4A"/>
                </a:solidFill>
                <a:latin typeface="Calibri"/>
              </a:rPr>
              <a:t>▸  The study does not estimate accuracy on a public question-answering dataset.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804672"/>
            <a:ext cx="5559552" cy="5623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804672"/>
            <a:ext cx="5559552" cy="502920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804672"/>
            <a:ext cx="5349240" cy="50292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System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257800" cy="47548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Each question is independent. Follow-ups are not resolved with dialogue history.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PDF extraction is text only. Scanned pages, tables, and figures are not parsed.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Large-file reassembly is in memory and can fail across serverless instances.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The default origin list is “*”. A copied public key can still query an allowed origin.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Deleting a chatbot removes the database record, not the Pinecone vectors.</a:t>
            </a:r>
          </a:p>
          <a:p>
            <a:pPr>
              <a:spcBef>
                <a:spcPts val="100"/>
              </a:spcBef>
              <a:spcAft>
                <a:spcPts val="700"/>
              </a:spcAft>
            </a:pPr>
            <a:r>
              <a:rPr sz="1400">
                <a:solidFill>
                  <a:srgbClr val="2A3A4A"/>
                </a:solidFill>
                <a:latin typeface="Calibri"/>
              </a:rPr>
              <a:t>▸  Embeddings and generation depend on Pinecone and OpenRouter. Production sign-in is Google only.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21  / 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3716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4048" y="146304"/>
            <a:ext cx="11338560" cy="38404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340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566928"/>
            <a:ext cx="1234440" cy="32004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749808"/>
            <a:ext cx="114574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5488" y="841247"/>
            <a:ext cx="475488" cy="384048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795528"/>
            <a:ext cx="10561320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RAG fits closed-domain question answering: upload a file to update knowledge, and return the source with the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114574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5488" y="1463040"/>
            <a:ext cx="475488" cy="384048"/>
          </a:xfrm>
          <a:prstGeom prst="roundRect">
            <a:avLst>
              <a:gd name="adj" fmla="val 8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1417320"/>
            <a:ext cx="10561320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A shared index is sufficient when every vector is tagged with chatbot_id and every query filters on that field.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993392"/>
            <a:ext cx="114574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5488" y="2084832"/>
            <a:ext cx="475488" cy="384048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2039112"/>
            <a:ext cx="10561320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Hosted embeddings and a remote LLM let one Next.js service run the full pipeline, without a Python sidecar.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15184"/>
            <a:ext cx="114574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75488" y="2706624"/>
            <a:ext cx="475488" cy="384048"/>
          </a:xfrm>
          <a:prstGeom prst="roundRect">
            <a:avLst>
              <a:gd name="adj" fmla="val 8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660903"/>
            <a:ext cx="10561320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Dashboard chat and the public widget stay consistent because both call the same answer function.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236976"/>
            <a:ext cx="114574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5488" y="3328416"/>
            <a:ext cx="475488" cy="384048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3282696"/>
            <a:ext cx="10561320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A widget key should allow chat only, bound to allowed origins. It is not a secret with write access.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858768"/>
            <a:ext cx="11457432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" y="3950208"/>
            <a:ext cx="475488" cy="384048"/>
          </a:xfrm>
          <a:prstGeom prst="roundRect">
            <a:avLst>
              <a:gd name="adj" fmla="val 8000"/>
            </a:avLst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27432" rIns="18288" bIns="27432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904488"/>
            <a:ext cx="10561320" cy="475488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A3A4A"/>
                </a:solidFill>
                <a:latin typeface="Calibri"/>
              </a:rPr>
              <a:t>Free-tier models need a defined failure path: another model, leak detection, then a raw chunk excerpt.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526280"/>
            <a:ext cx="11457432" cy="1874519"/>
          </a:xfrm>
          <a:prstGeom prst="roundRect">
            <a:avLst>
              <a:gd name="adj" fmla="val 8000"/>
            </a:avLst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663440"/>
            <a:ext cx="11109960" cy="160020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EC8CE"/>
                </a:solidFill>
                <a:latin typeface="Calibri"/>
              </a:rPr>
              <a:t>Takeaway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Better retrieval leads to better context — and better context leads to more reliable generation.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5D5DE"/>
                </a:solidFill>
                <a:latin typeface="Calibri"/>
              </a:rPr>
              <a:t>Demonstrated at relayy-dun.vercel.app    ·    npm package relay-chat-widget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9144"/>
          </a:xfrm>
          <a:prstGeom prst="rect">
            <a:avLst/>
          </a:prstGeom>
          <a:solidFill>
            <a:srgbClr val="D5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4048" y="6601968"/>
            <a:ext cx="8778240" cy="2560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C7C"/>
                </a:solidFill>
                <a:latin typeface="Calibri"/>
              </a:rPr>
              <a:t>Relay  ·  MCA Research Project  ·  P.E.S. Modern College of Engineering  ·  2026–27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601968"/>
            <a:ext cx="1463040" cy="256032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E6B74"/>
                </a:solidFill>
                <a:latin typeface="Calibri"/>
              </a:rPr>
              <a:t>22  / 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731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F2340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68880"/>
            <a:ext cx="1463040" cy="41148"/>
          </a:xfrm>
          <a:prstGeom prst="rect">
            <a:avLst/>
          </a:prstGeom>
          <a:solidFill>
            <a:srgbClr val="0E6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9144000" cy="50292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0A4F5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2340"/>
                </a:solidFill>
                <a:latin typeface="Calibri"/>
              </a:rPr>
              <a:t>Aaditi Choramle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379476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2340"/>
                </a:solidFill>
                <a:latin typeface="Calibri"/>
              </a:rPr>
              <a:t>Chitrang Choudhari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5196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2340"/>
                </a:solidFill>
                <a:latin typeface="Calibri"/>
              </a:rPr>
              <a:t>Sahil Dhanavade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4251960"/>
            <a:ext cx="4572000" cy="411480"/>
          </a:xfrm>
          <a:prstGeom prst="rect">
            <a:avLst/>
          </a:prstGeom>
          <a:noFill/>
        </p:spPr>
        <p:txBody>
          <a:bodyPr wrap="square" lIns="54864" tIns="27432" rIns="54864" bIns="27432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F2340"/>
                </a:solidFill>
                <a:latin typeface="Calibri"/>
              </a:rPr>
              <a:t>Pratik Kamble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9144000" cy="731520"/>
          </a:xfrm>
          <a:prstGeom prst="rect">
            <a:avLst/>
          </a:prstGeom>
          <a:noFill/>
        </p:spPr>
        <p:txBody>
          <a:bodyPr wrap="square" lIns="54864" tIns="27432" rIns="54864" bIns="27432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C7C"/>
                </a:solidFill>
                <a:latin typeface="Calibri"/>
              </a:rPr>
              <a:t>P.E.S. Modern College of Engineering, Pune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6C7C"/>
                </a:solidFill>
                <a:latin typeface="Calibri"/>
              </a:rPr>
              <a:t>Master of Computer Application   ·  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2891</Words>
  <Application>Microsoft Office PowerPoint</Application>
  <PresentationFormat>Widescreen</PresentationFormat>
  <Paragraphs>427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RELAY: A Multi-Tenant Retrieval-Augmented Generation Platform for Document-Grounded Chatbots</dc:title>
  <dc:subject>MCA Research Project Presentation</dc:subject>
  <dc:creator>Aaditi Choramle, Chitrang Choudhari, Sahil Dhanavade, Pratik Kamble</dc:creator>
  <cp:keywords/>
  <dc:description>generated using python-pptx</dc:description>
  <cp:lastModifiedBy>sahil dhanavade</cp:lastModifiedBy>
  <cp:revision>2</cp:revision>
  <dcterms:created xsi:type="dcterms:W3CDTF">2013-01-27T09:14:16Z</dcterms:created>
  <dcterms:modified xsi:type="dcterms:W3CDTF">2026-10-08T16:48:57Z</dcterms:modified>
  <cp:category/>
</cp:coreProperties>
</file>